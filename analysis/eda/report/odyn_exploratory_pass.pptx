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Coverage, signed responses, population geometry and arousal coupling. Everything here is descriptive; the conclusions are now implemented in the figure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Reported between-line contrasts descriptively with every mouse shown; inferential effort went to the paired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Consequence: thresholds referenced to mineral oil shift between conditions for reasons unrelated to odor coding, and the blank response is strongly session-dependent. Detection now references pre-odor excursions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all pairs the trace method finds a response in 54-96% where the mean-based call finds one in 12-66%.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independently confirms the qualitative read of the group-202 z-score movies.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 superficial vs deep contrast is within-mouse in all four TH animals, so this is the strongest between-population claim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Thy1 is the most informative population in the dataset, which supports using it as the 10x anchor.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Ratio is the only failure mode, and it fails for two of the three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Testable without more data. This is the most hypothesis-generating view of the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Permutation p&lt;0.05 rate pooled over windows and cohorts: 39/40 at 0.276, 17/18 at 0.090, 31/32 at 0.055 against 0.05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coupling -0.002 against +0.190 in the odor window; only 4 of 57 cases have baseline &gt;= odor, p&lt;0.0001. Split by response sign: excited +0.287, suppressed +0.063.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Awake pupil coverage is lost mainly to clipping, up to 41% of samples, and clipping happens when the pupil is large. The ROI or fit bounds are worth fixing before pupil carries weight in a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155 tests pass across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Mixture work is parked pending more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874519"/>
            <a:ext cx="977767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What the ODyn data can actually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947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500" b="0" i="0">
                <a:solidFill>
                  <a:srgbClr val="9FB0B6"/>
                </a:solidFill>
                <a:latin typeface="Calibri"/>
              </a:rPr>
              <a:t>An exploratory pass over 44 sessions of bulbar dopaminergic imaging, run to decide what is worth reporting before the figures are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100" b="0" i="0">
                <a:solidFill>
                  <a:srgbClr val="9FB0B6"/>
                </a:solidFill>
                <a:latin typeface="Calibri"/>
              </a:rPr>
              <a:t>404,415 unit–odor rows   ·   6 cohorts, 13 mice   ·   16-odor panel, pre/post ket-xyl   ·   2026-08-30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The design decides what can carry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The animal-level structure inverts the intuitive ordering of the comparisons.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338114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1" i="0">
                <a:solidFill>
                  <a:srgbClr val="A8632A"/>
                </a:solidFill>
                <a:latin typeface="Cambri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761488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5C6971"/>
                </a:solidFill>
                <a:latin typeface="Calibri"/>
              </a:rPr>
              <a:t>TH mice, each with 10x, superficial and deep 20x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05274" y="1828800"/>
            <a:ext cx="338114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1" i="0">
                <a:solidFill>
                  <a:srgbClr val="A8632A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05274" y="2761488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5C6971"/>
                </a:solidFill>
                <a:latin typeface="Calibri"/>
              </a:rPr>
              <a:t>DAT mice at 10x and 2 Thy1 mice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43620" y="1828800"/>
            <a:ext cx="3381146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5200" b="1" i="0">
                <a:solidFill>
                  <a:srgbClr val="A8632A"/>
                </a:solidFill>
                <a:latin typeface="Cambria"/>
              </a:rPr>
              <a:t>1–11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3620" y="2761488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50" b="0" i="0">
                <a:solidFill>
                  <a:srgbClr val="5C6971"/>
                </a:solidFill>
                <a:latin typeface="Calibri"/>
              </a:rPr>
              <a:t>trials per odor within a single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977639"/>
            <a:ext cx="10509199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350" b="0" i="0">
                <a:solidFill>
                  <a:srgbClr val="14202A"/>
                </a:solidFill>
                <a:latin typeface="Calibri"/>
              </a:rPr>
              <a:t>•  TH superficial vs deep is a within-mouse contrast in all four TH animals, and pre/post ket-xyl is within-session and within-field. Those two carry the weight.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350" b="0" i="0">
                <a:solidFill>
                  <a:srgbClr val="14202A"/>
                </a:solidFill>
                <a:latin typeface="Calibri"/>
              </a:rPr>
              <a:t>•  The headline TH vs DAT line comparison rests on two DAT animals, so it stays descriptive.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350" b="0" i="0">
                <a:solidFill>
                  <a:srgbClr val="14202A"/>
                </a:solidFill>
                <a:latin typeface="Calibri"/>
              </a:rPr>
              <a:t>•  Depth is not confounded with line: TH deep 110–200 um, TH superficial 54–103, DAT superficial 53–77.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Mineral oil is not a null stimulus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It crosses an excitation threshold in 16–87% of unit–odor pairs, where the nominal rate is 5%.</a:t>
            </a:r>
          </a:p>
        </p:txBody>
      </p:sp>
      <p:pic>
        <p:nvPicPr>
          <p:cNvPr id="4" name="Picture 3" descr="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470" y="1755648"/>
            <a:ext cx="8790753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Population median response, blank against real odors. The pre-odor baseline is flat, so this is not drift. Awake, the blank drives TH glomeruli to roughly two thirds of the real-odor response; at 20x it sits near zero.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The four-second mean hides most of the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Of genuinely bidirectional unit–odor pairs, the signed mean misses 69–88% awake.</a:t>
            </a:r>
          </a:p>
        </p:txBody>
      </p:sp>
      <p:pic>
        <p:nvPicPr>
          <p:cNvPr id="4" name="Picture 3" descr="bipha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842" y="1755648"/>
            <a:ext cx="7182009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One real TH 10x unit. Within the odor window the response goes +1.6, then −4.7, then +2.9 — and its signed four-second mean is −0.06 z. Excitation and suppression are now integrated separately.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Anesthesia abolishes suppression, everywhere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The largest and most consistent effect in the dataset, and a within-session contrast.</a:t>
            </a:r>
          </a:p>
        </p:txBody>
      </p:sp>
      <p:pic>
        <p:nvPicPr>
          <p:cNvPr id="4" name="Picture 3" descr="sup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35" y="1755648"/>
            <a:ext cx="7232223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Suppression breadth, mice as sampling units. Every cohort and both compartments move the same 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A depth gradient in excitation/suppression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TH deep is the only suppression-dominated population awake — and the most excitatory under ket/xyl.</a:t>
            </a:r>
          </a:p>
        </p:txBody>
      </p:sp>
      <p:pic>
        <p:nvPicPr>
          <p:cNvPr id="4" name="Picture 3" descr="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9735" y="1755648"/>
            <a:ext cx="7232223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Awake somatic balance orders monotonically: DAT superficial +0.67, TH superficial +0.34, TH deep −0.41. Awake TH deep somata have a median odor response of −0.19 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How much odor information each population carries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Every population is well above chance — TH deep still classifies 16 odors at four times chance.</a:t>
            </a:r>
          </a:p>
        </p:txBody>
      </p:sp>
      <p:pic>
        <p:nvPicPr>
          <p:cNvPr id="4" name="Picture 3" descr="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65" y="1755648"/>
            <a:ext cx="6402364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Leave-one-trial-out nearest centroid across the whole panel. The 10x/20x gap is expected: 20x samples a small subset of spatially distributed labeled-line input channels.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What gets mistaken for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Mixtures are confused with their reciprocal partner, never with their components.</a:t>
            </a:r>
          </a:p>
        </p:txBody>
      </p:sp>
      <p:pic>
        <p:nvPicPr>
          <p:cNvPr id="4" name="Picture 3" descr="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14812"/>
            <a:ext cx="11057839" cy="29861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Odors ordered so each mixture sits beside its two components. In Thy1 the only off-diagonal mass is alpha vs alpha-prime and epsilon vs epsilon-prime; lambda/lambda-prime is fully resolved.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The three mixture families are not alike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Whether ratios are discriminable may be downstream of how a mixture relates to its components.</a:t>
            </a:r>
          </a:p>
        </p:txBody>
      </p:sp>
      <p:pic>
        <p:nvPicPr>
          <p:cNvPr id="4" name="Picture 3" descr="t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882" y="1755648"/>
            <a:ext cx="4657929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Every awake trial against every other, one Thy1 session. Alpha is a novel pattern unlike either component; epsilon forms one block with its components; lambda sits between and is the pair whose ratios separate.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Ratio separation builds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Only pair 39/40 separates above chance, and a 0–4 s integral dilutes it.</a:t>
            </a:r>
          </a:p>
        </p:txBody>
      </p:sp>
      <p:pic>
        <p:nvPicPr>
          <p:cNvPr id="4" name="Picture 3" descr="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65" y="1755648"/>
            <a:ext cx="6402364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Pair 39/40, awake. Separation peaks in the final second, and for TH deep somata after offset entirely. Pairs 17/18 and 31/32 sit at the noise floor in every window. Mixture work is parked until there is more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Arousal amplifies responses, it does not suppress them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Opposite sign to the NE-suppression hypothesis, and not motion artifact.</a:t>
            </a:r>
          </a:p>
        </p:txBody>
      </p:sp>
      <p:pic>
        <p:nvPicPr>
          <p:cNvPr id="4" name="Picture 3" descr="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65" y="1755648"/>
            <a:ext cx="6402364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Running coupling is flat across the whole pre-odor window, rises 1 s after onset and peaks at 2 s. Running occurs in the baseline window too, so an artifact would appear there. It does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Pupil says the same thing, more weakly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Running dominates, but pupil carries a small independent contribution.</a:t>
            </a:r>
          </a:p>
        </p:txBody>
      </p:sp>
      <p:pic>
        <p:nvPicPr>
          <p:cNvPr id="4" name="Picture 3" descr="pup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65" y="1755648"/>
            <a:ext cx="6402364" cy="39044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5760720"/>
            <a:ext cx="11057839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50" b="0" i="0">
                <a:solidFill>
                  <a:srgbClr val="5C6971"/>
                </a:solidFill>
                <a:latin typeface="Calibri"/>
              </a:rPr>
              <a:t>Pupil controlling for running +0.055 (p=0.003); running controlling for pupil +0.189 (p&lt;0.0001). Carried by dilations, not constrictions. Absent under ket/xyl, where locomotion is zero and pupil quality is best.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5783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i="0">
                <a:solidFill>
                  <a:srgbClr val="14202A"/>
                </a:solidFill>
                <a:latin typeface="Cambria"/>
              </a:rPr>
              <a:t>What changed in the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06920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400" b="0" i="1">
                <a:solidFill>
                  <a:srgbClr val="215761"/>
                </a:solidFill>
                <a:latin typeface="Calibri"/>
              </a:rPr>
              <a:t>The 10x and 20x paths now share one implementation, so the scales are measured identically.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0509199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Responder calls reference pre-odor excursions, stratified by trial count, replacing the mineral-oil cutoff everywhere.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Excitation and suppression are integrated separately over the waveform, with early/late windows and peak latencies. Biphasic responses are detectable for the first time.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Lifetime sparseness comes from continuous AUC rather than thresholded excess, removing a bias where non-responsive units dropped out in a state-dependent way.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Whole-panel confusion matrices and RDMs are generated alongside the pairwise geometry.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Joins use the source round's database trial ids; states resolve through each file's own levels.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400" b="0" i="0">
                <a:solidFill>
                  <a:srgbClr val="14202A"/>
                </a:solidFill>
                <a:latin typeface="Calibri"/>
              </a:rPr>
              <a:t>•  One crossnobis implementation, with a permutation null that flags underpowered rather than emitting a z score.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777240"/>
            <a:ext cx="1105783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20240"/>
            <a:ext cx="10143439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500" b="0" i="0">
                <a:solidFill>
                  <a:srgbClr val="9FB0B6"/>
                </a:solidFill>
                <a:latin typeface="Calibri"/>
              </a:rPr>
              <a:t>•  What changed around 2026-08-03? It is the largest single source of 10x session variance, and it survives within line.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500" b="0" i="0">
                <a:solidFill>
                  <a:srgbClr val="9FB0B6"/>
                </a:solidFill>
                <a:latin typeface="Calibri"/>
              </a:rPr>
              <a:t>•  Lagged and FIR models of the arousal coupling; respiration-phase regressors.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500" b="0" i="0">
                <a:solidFill>
                  <a:srgbClr val="9FB0B6"/>
                </a:solidFill>
                <a:latin typeface="Calibri"/>
              </a:rPr>
              <a:t>•  The z-stack soma-size by depth model.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500" b="0" i="0">
                <a:solidFill>
                  <a:srgbClr val="9FB0B6"/>
                </a:solidFill>
                <a:latin typeface="Calibri"/>
              </a:rPr>
              <a:t>•  Awake pupil clipping, before pupil carries weight in a figure.</a:t>
            </a:r>
          </a:p>
          <a:p>
            <a:pPr>
              <a:lnSpc>
                <a:spcPct val="130000"/>
              </a:lnSpc>
              <a:spcBef>
                <a:spcPts val="900"/>
              </a:spcBef>
            </a:pPr>
            <a:r>
              <a:rPr sz="1500" b="0" i="0">
                <a:solidFill>
                  <a:srgbClr val="9FB0B6"/>
                </a:solidFill>
                <a:latin typeface="Calibri"/>
              </a:rPr>
              <a:t>•  Continuous inter-trial auxiliary data, if the spontaneous-event analysis is worth recovering.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